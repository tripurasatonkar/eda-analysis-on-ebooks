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145" r:id="rId1"/>
  </p:sldMasterIdLst>
  <p:notesMasterIdLst>
    <p:notesMasterId r:id="rId21"/>
  </p:notesMasterIdLst>
  <p:sldIdLst>
    <p:sldId id="275" r:id="rId2"/>
    <p:sldId id="257" r:id="rId3"/>
    <p:sldId id="263" r:id="rId4"/>
    <p:sldId id="258" r:id="rId5"/>
    <p:sldId id="262" r:id="rId6"/>
    <p:sldId id="264" r:id="rId7"/>
    <p:sldId id="261" r:id="rId8"/>
    <p:sldId id="265" r:id="rId9"/>
    <p:sldId id="266" r:id="rId10"/>
    <p:sldId id="267" r:id="rId11"/>
    <p:sldId id="268" r:id="rId12"/>
    <p:sldId id="269" r:id="rId13"/>
    <p:sldId id="270" r:id="rId14"/>
    <p:sldId id="276" r:id="rId15"/>
    <p:sldId id="272" r:id="rId16"/>
    <p:sldId id="273" r:id="rId17"/>
    <p:sldId id="277" r:id="rId18"/>
    <p:sldId id="274" r:id="rId19"/>
    <p:sldId id="259" r:id="rId20"/>
  </p:sldIdLst>
  <p:sldSz cx="12192000" cy="6858000"/>
  <p:notesSz cx="6858000" cy="9144000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Lato Black" panose="020F0502020204030203" pitchFamily="34" charset="0"/>
      <p:bold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</p:embeddedFon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91" d="100"/>
          <a:sy n="91" d="100"/>
        </p:scale>
        <p:origin x="2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1655016-5866-4A00-F84A-7E7D8B14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B0B9724-82B7-EE0A-E5B6-45468935F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33834D3-4638-3182-331B-69C20F4973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2177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325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28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59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04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39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4726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5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71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00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1778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5552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75458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7451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5882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7138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673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9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04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6" r:id="rId1"/>
    <p:sldLayoutId id="2147484147" r:id="rId2"/>
    <p:sldLayoutId id="2147484148" r:id="rId3"/>
    <p:sldLayoutId id="2147484149" r:id="rId4"/>
    <p:sldLayoutId id="2147484150" r:id="rId5"/>
    <p:sldLayoutId id="2147484151" r:id="rId6"/>
    <p:sldLayoutId id="2147484152" r:id="rId7"/>
    <p:sldLayoutId id="2147484153" r:id="rId8"/>
    <p:sldLayoutId id="2147484154" r:id="rId9"/>
    <p:sldLayoutId id="2147484155" r:id="rId10"/>
    <p:sldLayoutId id="2147484156" r:id="rId11"/>
    <p:sldLayoutId id="2147484157" r:id="rId12"/>
    <p:sldLayoutId id="2147484158" r:id="rId13"/>
    <p:sldLayoutId id="2147484159" r:id="rId14"/>
    <p:sldLayoutId id="2147484160" r:id="rId15"/>
    <p:sldLayoutId id="214748416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tripura-satonkar-3849b135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TripuraSatonka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tenberg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C65C29-419E-8DEC-1C28-4D0F49503090}"/>
              </a:ext>
            </a:extLst>
          </p:cNvPr>
          <p:cNvSpPr txBox="1"/>
          <p:nvPr/>
        </p:nvSpPr>
        <p:spPr>
          <a:xfrm>
            <a:off x="3287950" y="4027251"/>
            <a:ext cx="6503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ANALYSIS ON EBOOKS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060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2651643" y="1578409"/>
            <a:ext cx="7787149" cy="3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Name: Tripura Rajesh Satonkar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Educational Background : Bachelors of computer  application(BCA).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College Name : Dayanand College of Commerce, Latur.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Year : Final Year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LinkedIn Profile :  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3"/>
              </a:rPr>
              <a:t>https://www.linkedin.com/in/tripura-satonkar-3849b1352</a:t>
            </a:r>
            <a:endParaRPr lang="en-IN" sz="20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Profile :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4"/>
              </a:rPr>
              <a:t>https://github.com/TripuraSatonkar</a:t>
            </a: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>
              <a:buClr>
                <a:schemeClr val="dk1"/>
              </a:buClr>
              <a:buSzPts val="1800"/>
            </a:pP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>
              <a:buClr>
                <a:schemeClr val="dk1"/>
              </a:buClr>
              <a:buSzPts val="1800"/>
            </a:pP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434335" y="458499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D597693-D6E2-B93C-FC99-96E10696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889454D-476E-111C-28D7-4C7EFCF6A0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00B1A5-A4CA-3EF4-3AED-90A8FF34F01B}"/>
              </a:ext>
            </a:extLst>
          </p:cNvPr>
          <p:cNvSpPr/>
          <p:nvPr/>
        </p:nvSpPr>
        <p:spPr>
          <a:xfrm>
            <a:off x="6003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BA662-501C-3D35-B3F1-5E91C8CDC27E}"/>
              </a:ext>
            </a:extLst>
          </p:cNvPr>
          <p:cNvSpPr txBox="1"/>
          <p:nvPr/>
        </p:nvSpPr>
        <p:spPr>
          <a:xfrm>
            <a:off x="2827600" y="412789"/>
            <a:ext cx="864066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WEBSCRAPING DETAILS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6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LINK</a:t>
            </a:r>
            <a:r>
              <a:rPr lang="en-US" sz="2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https://www.gutenberg.org/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is an automated technique used to extract the data from websites.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manually copying information, web scraping uses a python libraries like requests or beautiful soup, etc.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specially useful when data is not directly available through official websites.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short web scraping is the automated way to collect structured data from websites for analysis and business use.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416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idx="1"/>
          </p:nvPr>
        </p:nvSpPr>
        <p:spPr>
          <a:xfrm>
            <a:off x="1676400" y="211202"/>
            <a:ext cx="10515600" cy="625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9779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9779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endParaRPr lang="en-US" dirty="0"/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Tx/>
              <a:buChar char="-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virtual library or online publishing market understand that which books are more popular, or</a:t>
            </a:r>
          </a:p>
          <a:p>
            <a:pPr marL="9779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which books are getting downloaded frequently, or how the authors are publishing in which languages ,etc.</a:t>
            </a:r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Tx/>
              <a:buChar char="-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Tx/>
              <a:buChar char="-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scrapping / analyzing data we aim to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9779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354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books / authors are most popular among readers ?</a:t>
            </a:r>
          </a:p>
          <a:p>
            <a:pPr marL="38354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reading formats are mostly preferred by the users (EPUB or kindle or Text)</a:t>
            </a:r>
          </a:p>
          <a:p>
            <a:pPr marL="38354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do file size and availability influence downloads ?</a:t>
            </a:r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Tx/>
              <a:buChar char="-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Tx/>
              <a:buChar char="-"/>
            </a:pPr>
            <a:endParaRPr lang="en-US" dirty="0"/>
          </a:p>
          <a:p>
            <a:pPr marL="9779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 :</a:t>
            </a:r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Tx/>
              <a:buChar char="-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 main objective of this project is to :</a:t>
            </a:r>
          </a:p>
          <a:p>
            <a:pPr marL="9779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1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Tx/>
              <a:buChar char="-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clean book related data from project Gutenberg using web scraping techniques.</a:t>
            </a:r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download trends to identify the most popular books, authors, and genres.</a:t>
            </a:r>
          </a:p>
          <a:p>
            <a:pPr marL="44069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Explore the relationship between file size, availability, and user engagement.</a:t>
            </a:r>
          </a:p>
          <a:p>
            <a:pPr marL="383540" indent="-285750">
              <a:lnSpc>
                <a:spcPct val="90000"/>
              </a:lnSpc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Mostly to provide insights that can help digital publishers, e-libraries, and online platforms to improve</a:t>
            </a:r>
          </a:p>
          <a:p>
            <a:pPr marL="9779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digitization and user experience.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0382BB-3EA5-30A7-27F9-1EE10587FB0B}"/>
              </a:ext>
            </a:extLst>
          </p:cNvPr>
          <p:cNvSpPr/>
          <p:nvPr/>
        </p:nvSpPr>
        <p:spPr>
          <a:xfrm>
            <a:off x="6003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3" name="Picture 2" descr="Hands holding a tablet with a screen showing a book">
            <a:extLst>
              <a:ext uri="{FF2B5EF4-FFF2-40B4-BE49-F238E27FC236}">
                <a16:creationId xmlns:a16="http://schemas.microsoft.com/office/drawing/2014/main" id="{9B131470-F0FA-55EB-62DF-31DDC391F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941" y="1828041"/>
            <a:ext cx="2768130" cy="25782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8A4F-86AB-E0AA-41DF-2AD4CDC8C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216" y="2404534"/>
            <a:ext cx="6867144" cy="164630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77A8AC-B3A1-8B06-D6D9-280CA0430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548" y="1986389"/>
            <a:ext cx="8761756" cy="3675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A9DDA6-F4AD-8EBE-E86D-A79EB3968371}"/>
              </a:ext>
            </a:extLst>
          </p:cNvPr>
          <p:cNvSpPr txBox="1"/>
          <p:nvPr/>
        </p:nvSpPr>
        <p:spPr>
          <a:xfrm>
            <a:off x="2655539" y="500705"/>
            <a:ext cx="4743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of the website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4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C797D-3C35-DC77-2A82-C3DADBD6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920029-18CB-07F4-4830-B7D6F34033C4}"/>
              </a:ext>
            </a:extLst>
          </p:cNvPr>
          <p:cNvSpPr txBox="1"/>
          <p:nvPr/>
        </p:nvSpPr>
        <p:spPr>
          <a:xfrm>
            <a:off x="1132515" y="1257520"/>
            <a:ext cx="363243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DATAFRAME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:</a:t>
            </a:r>
          </a:p>
          <a:p>
            <a:endParaRPr lang="en-US" sz="2000" b="1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was my old data frame which was uncleaned so I decided to perform some operations on it.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this, I performed unique values, finding that are there any NULL values and also arranged the columns in a proper format.</a:t>
            </a:r>
          </a:p>
          <a:p>
            <a:endParaRPr lang="en-IN" sz="2000" b="1" dirty="0"/>
          </a:p>
          <a:p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DATAFRAME </a:t>
            </a:r>
            <a:r>
              <a:rPr lang="en-IN" sz="2000" b="1" dirty="0">
                <a:solidFill>
                  <a:schemeClr val="accent3">
                    <a:lumMod val="75000"/>
                  </a:schemeClr>
                </a:solidFill>
              </a:rPr>
              <a:t>:</a:t>
            </a:r>
          </a:p>
          <a:p>
            <a:endParaRPr lang="en-IN" sz="2000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my cleaned dataset. Where I have performed some Operations to make the data more cleaned</a:t>
            </a:r>
            <a:r>
              <a:rPr lang="en-US" dirty="0"/>
              <a:t>.</a:t>
            </a:r>
            <a:endParaRPr lang="en-IN" dirty="0"/>
          </a:p>
          <a:p>
            <a:endParaRPr lang="en-IN" sz="2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86C908-FC4B-5AAC-E4C4-30E3165ECF69}"/>
              </a:ext>
            </a:extLst>
          </p:cNvPr>
          <p:cNvSpPr txBox="1"/>
          <p:nvPr/>
        </p:nvSpPr>
        <p:spPr>
          <a:xfrm>
            <a:off x="1383039" y="5231148"/>
            <a:ext cx="5602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AF0998-2438-8A76-C1B9-2BFB054DD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5" y="3699545"/>
            <a:ext cx="6582592" cy="27012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BAFB84-B382-76DC-4C68-AA5A59F2213E}"/>
              </a:ext>
            </a:extLst>
          </p:cNvPr>
          <p:cNvSpPr txBox="1"/>
          <p:nvPr/>
        </p:nvSpPr>
        <p:spPr>
          <a:xfrm>
            <a:off x="3285672" y="195590"/>
            <a:ext cx="3243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D72C4EBC-11E9-5A06-5FF3-184149116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565" y="858780"/>
            <a:ext cx="6686892" cy="257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19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D27935-CB64-CB4C-323B-675BB2124024}"/>
              </a:ext>
            </a:extLst>
          </p:cNvPr>
          <p:cNvSpPr txBox="1"/>
          <p:nvPr/>
        </p:nvSpPr>
        <p:spPr>
          <a:xfrm>
            <a:off x="1928713" y="892729"/>
            <a:ext cx="890625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</a:p>
          <a:p>
            <a:endParaRPr lang="en-US" sz="2000" b="1" dirty="0"/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is the process of representing data into a visual format like charts or graphs.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visualization process we can transform data into visuals(such as bar charts, pie charts, scatter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plots,heatmaps,etc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complex data easier to interpret at a glance.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decision-making for business research and everyday problem solving.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short, data visualization is nothing but turning data into pictures for better understanding.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763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943CC-943F-45FF-1FC3-DAECBE89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CCCE9C-3D7E-1FEC-3703-C0AF04BCCFEC}"/>
              </a:ext>
            </a:extLst>
          </p:cNvPr>
          <p:cNvSpPr txBox="1"/>
          <p:nvPr/>
        </p:nvSpPr>
        <p:spPr>
          <a:xfrm>
            <a:off x="1473581" y="474345"/>
            <a:ext cx="9244838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is nothing but analyzing one variable at a time, using stats visualizations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to understand it’s distribution, spread, and key patterns.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 startAt="2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Bivariate analysis means analyzing the relationship between two variables at the same time.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One variable is usually independent (predictor) and the other is dependent (outcomes).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is the process of analyzing three or more variables at the same time to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understand their combined effects, relationships, or patterns.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39660-0A92-12DD-B8EF-45ED89D69387}"/>
              </a:ext>
            </a:extLst>
          </p:cNvPr>
          <p:cNvSpPr txBox="1"/>
          <p:nvPr/>
        </p:nvSpPr>
        <p:spPr>
          <a:xfrm>
            <a:off x="2994870" y="285226"/>
            <a:ext cx="5636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TECHNIQUES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7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EF68B4-8AD4-798F-9199-58ED2DEEC7CC}"/>
              </a:ext>
            </a:extLst>
          </p:cNvPr>
          <p:cNvSpPr txBox="1"/>
          <p:nvPr/>
        </p:nvSpPr>
        <p:spPr>
          <a:xfrm>
            <a:off x="2037434" y="81819"/>
            <a:ext cx="7333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ON NUMERICAL COLUMNS 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9B5325-58B3-D33A-A1DC-F82DEDCBFB68}"/>
              </a:ext>
            </a:extLst>
          </p:cNvPr>
          <p:cNvSpPr txBox="1"/>
          <p:nvPr/>
        </p:nvSpPr>
        <p:spPr>
          <a:xfrm>
            <a:off x="2037434" y="538523"/>
            <a:ext cx="6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for BOOK ID and downloads in last 30 days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470455-E6E9-AC64-EA0A-EB921A28DCFE}"/>
              </a:ext>
            </a:extLst>
          </p:cNvPr>
          <p:cNvSpPr txBox="1"/>
          <p:nvPr/>
        </p:nvSpPr>
        <p:spPr>
          <a:xfrm>
            <a:off x="1548189" y="1333782"/>
            <a:ext cx="2234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: </a:t>
            </a:r>
            <a:endParaRPr lang="en-IN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238A8-EFBC-3603-E9A5-0F3F1D4157E6}"/>
              </a:ext>
            </a:extLst>
          </p:cNvPr>
          <p:cNvSpPr txBox="1"/>
          <p:nvPr/>
        </p:nvSpPr>
        <p:spPr>
          <a:xfrm>
            <a:off x="507955" y="2159819"/>
            <a:ext cx="43800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histogram for BOOK ID and Downloads in last 30 days ( Both are numeric columns).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Here we can observe  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of histogram is right-skewed.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 shows high variability. Most variables are clustered in a small range.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this, most values of BOOK ID are between 10000 to 70000.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A778D2-7FC0-85A2-9A99-18A95E3BF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992494"/>
            <a:ext cx="6096000" cy="2656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3B4B74-6DEA-9CA0-C96E-EBB2B0E43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99505"/>
            <a:ext cx="6003721" cy="274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6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B6E4B3-BDA1-E2AE-CD88-225E76E8738E}"/>
              </a:ext>
            </a:extLst>
          </p:cNvPr>
          <p:cNvSpPr txBox="1"/>
          <p:nvPr/>
        </p:nvSpPr>
        <p:spPr>
          <a:xfrm>
            <a:off x="2312550" y="267693"/>
            <a:ext cx="7111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ON CATEGORICAL COLUMN 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06BB7-6E7B-0688-6153-F3EDC2C608E7}"/>
              </a:ext>
            </a:extLst>
          </p:cNvPr>
          <p:cNvSpPr txBox="1"/>
          <p:nvPr/>
        </p:nvSpPr>
        <p:spPr>
          <a:xfrm>
            <a:off x="2592197" y="795561"/>
            <a:ext cx="6145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COUNTPLOT FOR TOP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10 CATEGORY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RELEASE DATE IES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10722-AC58-5956-5031-7A31B9DAEDDF}"/>
              </a:ext>
            </a:extLst>
          </p:cNvPr>
          <p:cNvSpPr txBox="1"/>
          <p:nvPr/>
        </p:nvSpPr>
        <p:spPr>
          <a:xfrm>
            <a:off x="1384503" y="1600428"/>
            <a:ext cx="2155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: 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E68D8-2D44-DFF7-7814-20F3B299DEA7}"/>
              </a:ext>
            </a:extLst>
          </p:cNvPr>
          <p:cNvSpPr txBox="1"/>
          <p:nvPr/>
        </p:nvSpPr>
        <p:spPr>
          <a:xfrm>
            <a:off x="1118292" y="2228452"/>
            <a:ext cx="37808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distribution of release dates is highly uneven. A small number of release years dominate the dataset, while most years contribute only a few books. This indicates a skewed distribution, which we need to account for in further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10 release years together represent a large proportion of the dataset, suggesting historical clustering of publications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chart highlights which years/dates had the highest number of book releases</a:t>
            </a:r>
            <a:r>
              <a:rPr lang="en-US" dirty="0"/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2B0F62-835C-EFFB-4460-39B8B0AB1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454" y="1490227"/>
            <a:ext cx="6826488" cy="526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75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BDD989-AA43-3F22-CC80-0F3B3AFF4761}"/>
              </a:ext>
            </a:extLst>
          </p:cNvPr>
          <p:cNvSpPr txBox="1"/>
          <p:nvPr/>
        </p:nvSpPr>
        <p:spPr>
          <a:xfrm>
            <a:off x="1851440" y="105952"/>
            <a:ext cx="8489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ON NUMERIC COLUMNS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018B5-FBE3-72C5-F074-86D7D13DB8EC}"/>
              </a:ext>
            </a:extLst>
          </p:cNvPr>
          <p:cNvSpPr txBox="1"/>
          <p:nvPr/>
        </p:nvSpPr>
        <p:spPr>
          <a:xfrm>
            <a:off x="2500096" y="717787"/>
            <a:ext cx="6878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NORMALISED STACKED BAR PLOT FOR AUTHOR VS LANGUAGE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16C47-E656-7CF6-EFFB-B98FE9D567F3}"/>
              </a:ext>
            </a:extLst>
          </p:cNvPr>
          <p:cNvSpPr txBox="1"/>
          <p:nvPr/>
        </p:nvSpPr>
        <p:spPr>
          <a:xfrm>
            <a:off x="608264" y="1518671"/>
            <a:ext cx="2155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: 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E15FAA-952A-7264-8E78-C9534F78B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950" y="1549313"/>
            <a:ext cx="6964086" cy="51472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2DC33A-8231-9AB2-D4BF-D0179EE812BA}"/>
              </a:ext>
            </a:extLst>
          </p:cNvPr>
          <p:cNvSpPr txBox="1"/>
          <p:nvPr/>
        </p:nvSpPr>
        <p:spPr>
          <a:xfrm>
            <a:off x="354373" y="2315172"/>
            <a:ext cx="458674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stacked bar shows which authors are most prominent in each language.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bar sums to 100% for that language, so the focus is on relative dominance of authors rather than dataset size.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identify which authors are more widely represented in Gutenberg’s collection.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languages may be dominated by a single author, while others show diverse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3368487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63523E-45EF-5428-10C7-879C6B6CC731}"/>
              </a:ext>
            </a:extLst>
          </p:cNvPr>
          <p:cNvSpPr txBox="1"/>
          <p:nvPr/>
        </p:nvSpPr>
        <p:spPr>
          <a:xfrm>
            <a:off x="2171869" y="234785"/>
            <a:ext cx="6107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 FOR AUTHOR VS LANGUAGE 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F69A3-3CAE-02B4-4D91-85DC12C75302}"/>
              </a:ext>
            </a:extLst>
          </p:cNvPr>
          <p:cNvSpPr txBox="1"/>
          <p:nvPr/>
        </p:nvSpPr>
        <p:spPr>
          <a:xfrm>
            <a:off x="348145" y="2681809"/>
            <a:ext cx="45761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stacked bar chart says that the colored segments inside the bar represent how those books are divided across different languages.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with a single  color bar mainly wrote in one language and the author with multi-colored bars contributed books in multiple languages.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helps to compare which authors are more productive and which languages dominate among top 10 authors.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F21427-F05A-FC0D-DAB0-7C377C47A1CF}"/>
              </a:ext>
            </a:extLst>
          </p:cNvPr>
          <p:cNvSpPr txBox="1"/>
          <p:nvPr/>
        </p:nvSpPr>
        <p:spPr>
          <a:xfrm>
            <a:off x="1338044" y="1888541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: 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B4002-7F13-7189-97EC-B28B61A56BA8}"/>
              </a:ext>
            </a:extLst>
          </p:cNvPr>
          <p:cNvSpPr txBox="1"/>
          <p:nvPr/>
        </p:nvSpPr>
        <p:spPr>
          <a:xfrm>
            <a:off x="1442906" y="964517"/>
            <a:ext cx="8912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BARCHART 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 is a type of bar chart where each bar is divided into                       multiple segments.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A94991-C37C-0117-6206-6521C51C9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338" y="1476462"/>
            <a:ext cx="7107260" cy="514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6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D76AE2-8A3F-C51C-2864-DF51DB360805}"/>
              </a:ext>
            </a:extLst>
          </p:cNvPr>
          <p:cNvSpPr txBox="1"/>
          <p:nvPr/>
        </p:nvSpPr>
        <p:spPr>
          <a:xfrm>
            <a:off x="813732" y="1157573"/>
            <a:ext cx="2155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: 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4EBE5-16C2-B6EC-8187-126B19B1FBDC}"/>
              </a:ext>
            </a:extLst>
          </p:cNvPr>
          <p:cNvSpPr txBox="1"/>
          <p:nvPr/>
        </p:nvSpPr>
        <p:spPr>
          <a:xfrm>
            <a:off x="813732" y="1923845"/>
            <a:ext cx="46139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Popular Book Title: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Frankenstein; Or, The Modern Prometheus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the top 5 titles with 27.3% share, indicating it is the most frequently listed or read among the dataset.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Literary Preferences: The top titles include classic literature from different genres and eras—novels 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Frankenstein, The Secret Garden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tragedies 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Hamlet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Dominance of Unknown Authors: In the top 5 authors, a large proportion (32.7%) is categorized as “Unknown,”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Prominent Classic Authors: Among known authors, Charles Dickens and Mark Twain are tied at 18.4%, followed by Plato (16.3%) and Friedrich Wilhelm Nietzsche (14.3%).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D3A3E-CD1B-29D4-8880-9C153927E4C4}"/>
              </a:ext>
            </a:extLst>
          </p:cNvPr>
          <p:cNvSpPr txBox="1"/>
          <p:nvPr/>
        </p:nvSpPr>
        <p:spPr>
          <a:xfrm>
            <a:off x="2744365" y="390886"/>
            <a:ext cx="5257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Top 5 Titles and Authors Distribution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FD65CE9-6729-1C1D-D034-4C271F941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879B650-CE2D-7358-925A-B39919320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521A087-8211-35F9-6119-F7555E6B1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69" y="996523"/>
            <a:ext cx="5257273" cy="252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FE06361D-7646-AF66-7527-290FA3D31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189" y="3760771"/>
            <a:ext cx="5085353" cy="291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13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61A84BF-E216-B6D4-98CA-6C71553F9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170" y="1468073"/>
            <a:ext cx="7296468" cy="520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1F1AD2-DB60-85EF-362D-57B2E173AC4C}"/>
              </a:ext>
            </a:extLst>
          </p:cNvPr>
          <p:cNvSpPr txBox="1"/>
          <p:nvPr/>
        </p:nvSpPr>
        <p:spPr>
          <a:xfrm>
            <a:off x="490693" y="1903867"/>
            <a:ext cx="40099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Frankenstein; Or, The Modern Prometheus has the highest category count at 3.0, standing out significantly from all other titles.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titles ("The Secret Garden," "The Iliad," "Hamlet," "Crime and Punishment") form the second-highest group with a count of 2.0.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the remaining titles (9 out of 14) share a low count of 1.0, including well-known works like "Pride and Prejudice" and "Middlemarch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2FECAC-474E-F562-BC8D-02362E0C08CA}"/>
              </a:ext>
            </a:extLst>
          </p:cNvPr>
          <p:cNvSpPr txBox="1"/>
          <p:nvPr/>
        </p:nvSpPr>
        <p:spPr>
          <a:xfrm>
            <a:off x="2224480" y="293615"/>
            <a:ext cx="760881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Count by Title: Identifying Topically Rich Literary Works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D975D-CC59-55CA-F930-95303AF64AE6}"/>
              </a:ext>
            </a:extLst>
          </p:cNvPr>
          <p:cNvSpPr txBox="1"/>
          <p:nvPr/>
        </p:nvSpPr>
        <p:spPr>
          <a:xfrm>
            <a:off x="1417739" y="1098741"/>
            <a:ext cx="2155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: 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112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D3435-6AB4-0880-FEA1-BC67271E44AC}"/>
              </a:ext>
            </a:extLst>
          </p:cNvPr>
          <p:cNvSpPr txBox="1"/>
          <p:nvPr/>
        </p:nvSpPr>
        <p:spPr>
          <a:xfrm>
            <a:off x="2919369" y="507616"/>
            <a:ext cx="614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MAP FOR TITLE VS AUTHOR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0913F-ED16-C99A-647B-94C71C53133C}"/>
              </a:ext>
            </a:extLst>
          </p:cNvPr>
          <p:cNvSpPr txBox="1"/>
          <p:nvPr/>
        </p:nvSpPr>
        <p:spPr>
          <a:xfrm>
            <a:off x="1459685" y="1199626"/>
            <a:ext cx="2098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: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32A1C-888F-FB8D-3AF4-4DDB853994C9}"/>
              </a:ext>
            </a:extLst>
          </p:cNvPr>
          <p:cNvSpPr txBox="1"/>
          <p:nvPr/>
        </p:nvSpPr>
        <p:spPr>
          <a:xfrm>
            <a:off x="1216404" y="1736738"/>
            <a:ext cx="51559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(authors, subjects, or languages) that often co-occur are clustered together. authors writing in similar languages get grouped on one branch.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Darker/ brighter blocks highlight strong associations. English dominates as a language grouping most authors under one cluster.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with unique patterns (not similar to other) will form their own small cluster.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relationships where certain subjects may cluster together because they are written in the same language group. You can see which categories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col_x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similar distributions across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col_y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155E64-3841-A258-22D9-4C6048FCF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928" y="1199626"/>
            <a:ext cx="5950292" cy="49016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3C6424-7F8E-7632-D55E-19F7BA35BDB7}"/>
              </a:ext>
            </a:extLst>
          </p:cNvPr>
          <p:cNvSpPr txBox="1"/>
          <p:nvPr/>
        </p:nvSpPr>
        <p:spPr>
          <a:xfrm>
            <a:off x="2572624" y="106893"/>
            <a:ext cx="7046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ON NUMERICAL COLUMN 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113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466E0-54F8-226E-EC2F-C6B128CD1989}"/>
              </a:ext>
            </a:extLst>
          </p:cNvPr>
          <p:cNvSpPr txBox="1"/>
          <p:nvPr/>
        </p:nvSpPr>
        <p:spPr>
          <a:xfrm>
            <a:off x="1350627" y="226503"/>
            <a:ext cx="9345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FOR NUMERICAL VS NUMERICAL COLUMNS 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393C5-9AE2-36F5-AD5C-224DCB7EFFEF}"/>
              </a:ext>
            </a:extLst>
          </p:cNvPr>
          <p:cNvSpPr txBox="1"/>
          <p:nvPr/>
        </p:nvSpPr>
        <p:spPr>
          <a:xfrm>
            <a:off x="2727820" y="788641"/>
            <a:ext cx="6736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AND KDE PLOT FOR BOOK ID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19E00-545A-8731-77B1-6A0EC3A8FB62}"/>
              </a:ext>
            </a:extLst>
          </p:cNvPr>
          <p:cNvSpPr txBox="1"/>
          <p:nvPr/>
        </p:nvSpPr>
        <p:spPr>
          <a:xfrm>
            <a:off x="1015067" y="1752347"/>
            <a:ext cx="2155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: 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2CD9A-97BF-2CDD-A5AD-40B76D7BA6E8}"/>
              </a:ext>
            </a:extLst>
          </p:cNvPr>
          <p:cNvSpPr txBox="1"/>
          <p:nvPr/>
        </p:nvSpPr>
        <p:spPr>
          <a:xfrm>
            <a:off x="444619" y="2569149"/>
            <a:ext cx="40267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show whether each numeric variable is normally distributed or skewed.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KDE curve helps to identify the shape of the data distributions.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boxplots reveals the spread of values, median, and presence of outliers.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with wider boxes (IQR) indicate greater variability.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7A40EC-0ACE-1666-718E-4BE651C4F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668" y="1485335"/>
            <a:ext cx="7376720" cy="521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04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721A4D1-EED8-ECBF-FA2C-4F0C3863F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182" y="1417737"/>
            <a:ext cx="5972366" cy="529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F9A83C-CB77-7346-1432-EF8852C54E74}"/>
              </a:ext>
            </a:extLst>
          </p:cNvPr>
          <p:cNvSpPr txBox="1"/>
          <p:nvPr/>
        </p:nvSpPr>
        <p:spPr>
          <a:xfrm>
            <a:off x="889234" y="2388644"/>
            <a:ext cx="47230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Sizes are Redundant: All e-book format file size columns (EPUB, Kindle, HTML zip, Plain Text) are extremely highly positively correlated (≈0.96 to 0.99) with each other.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Downloads are Independent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Downloads (30 days) metric shows a negligible correlation (≈−0.15 to 0.03) with all file sizes and other metrics, suggesting usage is independent of file size.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Usage-Size Link: "Read now!" counts show only a weak to moderate positive correlation (highest at 0.24) with the file size columns, implying a minor link between content volume and immediate readership.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EC1C9-0C2E-99F8-91E9-8492A2524E51}"/>
              </a:ext>
            </a:extLst>
          </p:cNvPr>
          <p:cNvSpPr txBox="1"/>
          <p:nvPr/>
        </p:nvSpPr>
        <p:spPr>
          <a:xfrm>
            <a:off x="2625755" y="683704"/>
            <a:ext cx="7264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of E-book File Sizes and Usage Metrics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346F9-46A0-1FF6-47A5-AAE95323B419}"/>
              </a:ext>
            </a:extLst>
          </p:cNvPr>
          <p:cNvSpPr txBox="1"/>
          <p:nvPr/>
        </p:nvSpPr>
        <p:spPr>
          <a:xfrm>
            <a:off x="2231471" y="222039"/>
            <a:ext cx="7473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ON NUMERICAL COLUMN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7FDB9-A790-5353-4EB6-89975A7CA82D}"/>
              </a:ext>
            </a:extLst>
          </p:cNvPr>
          <p:cNvSpPr txBox="1"/>
          <p:nvPr/>
        </p:nvSpPr>
        <p:spPr>
          <a:xfrm>
            <a:off x="1148024" y="1536174"/>
            <a:ext cx="196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en-IN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466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67EDB7-C587-A574-10BC-19A0EC63382B}"/>
              </a:ext>
            </a:extLst>
          </p:cNvPr>
          <p:cNvSpPr txBox="1"/>
          <p:nvPr/>
        </p:nvSpPr>
        <p:spPr>
          <a:xfrm>
            <a:off x="1694577" y="383430"/>
            <a:ext cx="90887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FOR CATEGORICAL VS CATEGORICAL COLUMN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2B9D3-C225-DBA4-BD84-0287844E88EF}"/>
              </a:ext>
            </a:extLst>
          </p:cNvPr>
          <p:cNvSpPr txBox="1"/>
          <p:nvPr/>
        </p:nvSpPr>
        <p:spPr>
          <a:xfrm>
            <a:off x="1115735" y="1458188"/>
            <a:ext cx="2155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8815A-DED3-8906-F311-0F1715A025FD}"/>
              </a:ext>
            </a:extLst>
          </p:cNvPr>
          <p:cNvSpPr txBox="1"/>
          <p:nvPr/>
        </p:nvSpPr>
        <p:spPr>
          <a:xfrm>
            <a:off x="692031" y="2099713"/>
            <a:ext cx="33975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language’s bar is divided by authors, showing who contributes to which language.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plot highlights both the popularity of languages and the distribution of authors across them.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mainly illustrates the distribution of books across different languages, further broken down by author contributions.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348DE-98C8-CDB1-38FE-B9727BA6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561" y="1182847"/>
            <a:ext cx="6749289" cy="540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50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468443" y="1401795"/>
            <a:ext cx="4711583" cy="14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</a:t>
            </a:r>
            <a:r>
              <a:rPr lang="en-IN" sz="4400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 </a:t>
            </a: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65D42-DC08-3D39-5032-889D029B80B1}"/>
              </a:ext>
            </a:extLst>
          </p:cNvPr>
          <p:cNvSpPr txBox="1"/>
          <p:nvPr/>
        </p:nvSpPr>
        <p:spPr>
          <a:xfrm>
            <a:off x="1826958" y="2305475"/>
            <a:ext cx="3692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BY : TRIPURA RAJESH SATONKAR 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2069</TotalTime>
  <Words>1530</Words>
  <Application>Microsoft Office PowerPoint</Application>
  <PresentationFormat>Widescreen</PresentationFormat>
  <Paragraphs>184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Libre Baskerville</vt:lpstr>
      <vt:lpstr>Wingdings 3</vt:lpstr>
      <vt:lpstr>Wingdings</vt:lpstr>
      <vt:lpstr>Century Gothic</vt:lpstr>
      <vt:lpstr>Times New Roman</vt:lpstr>
      <vt:lpstr>Calibri</vt:lpstr>
      <vt:lpstr>Lato Black</vt:lpstr>
      <vt:lpstr>Arial</vt:lpstr>
      <vt:lpstr>Wisp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Tripura Satonkar</cp:lastModifiedBy>
  <cp:revision>24</cp:revision>
  <dcterms:created xsi:type="dcterms:W3CDTF">2021-02-16T05:19:01Z</dcterms:created>
  <dcterms:modified xsi:type="dcterms:W3CDTF">2025-09-26T11:48:35Z</dcterms:modified>
</cp:coreProperties>
</file>